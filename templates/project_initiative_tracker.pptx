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[PROJECT TITLE]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640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758952"/>
            <a:ext cx="3794760" cy="254203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13815"/>
            <a:ext cx="3566160" cy="22860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1200" b="1" u="sng">
                <a:solidFill>
                  <a:srgbClr val="000000"/>
                </a:solidFill>
                <a:latin typeface="Calibri"/>
              </a:defRPr>
            </a:pPr>
            <a:r>
              <a:t>[Initiative 1 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60704"/>
            <a:ext cx="3566160" cy="32004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[Brief description of this initiative - what needs to happen and why it matters to the business]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99031"/>
            <a:ext cx="32004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Calibri"/>
              </a:defRPr>
            </a:pPr>
            <a:r>
              <a:t>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08176"/>
            <a:ext cx="822960" cy="155448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650" b="1">
                <a:solidFill>
                  <a:srgbClr val="000000"/>
                </a:solidFill>
                <a:latin typeface="Calibri"/>
              </a:defRPr>
            </a:pPr>
            <a:r>
              <a:t>[Lead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399031"/>
            <a:ext cx="347472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8528" y="1408176"/>
            <a:ext cx="1371600" cy="155448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650" b="1">
                <a:solidFill>
                  <a:srgbClr val="000000"/>
                </a:solidFill>
                <a:latin typeface="Calibri"/>
              </a:defRPr>
            </a:pPr>
            <a:r>
              <a:t>[Dept 1, Dept 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27631"/>
            <a:ext cx="3566160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55064"/>
            <a:ext cx="182880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Calibri"/>
              </a:defRPr>
            </a:pPr>
            <a:r>
              <a:t>Key Updates: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837943"/>
            <a:ext cx="3566160" cy="1417320"/>
          </a:xfrm>
          <a:prstGeom prst="rect">
            <a:avLst/>
          </a:prstGeom>
          <a:noFill/>
        </p:spPr>
        <p:txBody>
          <a:bodyPr wrap="square" tIns="0" lIns="38100">
            <a:spAutoFit/>
          </a:bodyPr>
          <a:lstStyle/>
          <a:p>
            <a:pPr>
              <a:spcAft>
                <a:spcPts val="100"/>
              </a:spcAft>
              <a:defRPr sz="700">
                <a:latin typeface="Calibri"/>
              </a:defRPr>
            </a:pPr>
            <a:r>
              <a:t>✓  [Completed workstream w/c DD/MM/YY]</a:t>
            </a:r>
          </a:p>
          <a:p>
            <a:pPr>
              <a:spcAft>
                <a:spcPts val="100"/>
              </a:spcAft>
              <a:defRPr sz="700">
                <a:latin typeface="Calibri"/>
              </a:defRPr>
            </a:pPr>
            <a:r>
              <a:t>✓  [Completed workstream w/c DD/MM/YY]</a:t>
            </a:r>
          </a:p>
          <a:p>
            <a:pPr>
              <a:spcAft>
                <a:spcPts val="100"/>
              </a:spcAft>
              <a:defRPr sz="700">
                <a:latin typeface="Calibri"/>
              </a:defRPr>
            </a:pPr>
            <a:r>
              <a:t>•  [In-progress workstream w/c DD/MM/YY]</a:t>
            </a:r>
          </a:p>
          <a:p>
            <a:pPr>
              <a:spcAft>
                <a:spcPts val="100"/>
              </a:spcAft>
              <a:defRPr sz="700">
                <a:latin typeface="Calibri"/>
              </a:defRPr>
            </a:pPr>
            <a:r>
              <a:t>•  [Planned workstream w/c DD/MM/YY]</a:t>
            </a:r>
          </a:p>
          <a:p>
            <a:pPr>
              <a:spcAft>
                <a:spcPts val="100"/>
              </a:spcAft>
              <a:defRPr sz="700">
                <a:latin typeface="Calibri"/>
              </a:defRPr>
            </a:pPr>
            <a:r>
              <a:t>•  [Planned workstream w/c DD/MM/YY]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813815"/>
            <a:ext cx="59436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8888" y="813815"/>
            <a:ext cx="658368" cy="1828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051560"/>
            <a:ext cx="59436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Calibri"/>
              </a:defRPr>
            </a:pPr>
            <a:r>
              <a:t>% DONE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18888" y="1060704"/>
            <a:ext cx="1097280" cy="15544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18888" y="1060704"/>
            <a:ext cx="438912" cy="1554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289304"/>
            <a:ext cx="59436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Calibri"/>
              </a:defRPr>
            </a:pPr>
            <a:r>
              <a:t>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18888" y="1289304"/>
            <a:ext cx="777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>
                <a:latin typeface="Calibri"/>
              </a:defRPr>
            </a:pPr>
            <a:r>
              <a:t>[DD/MM/YY]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813815"/>
            <a:ext cx="1828800" cy="18288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Goals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014983"/>
            <a:ext cx="1828800" cy="731520"/>
          </a:xfrm>
          <a:prstGeom prst="rect">
            <a:avLst/>
          </a:prstGeom>
          <a:noFill/>
        </p:spPr>
        <p:txBody>
          <a:bodyPr wrap="square" tIns="0" lIns="38100">
            <a:spAutoFit/>
          </a:bodyPr>
          <a:lstStyle/>
          <a:p>
            <a:pPr>
              <a:spcAft>
                <a:spcPts val="200"/>
              </a:spcAft>
              <a:defRPr sz="750">
                <a:latin typeface="Calibri"/>
              </a:defRPr>
            </a:pPr>
            <a:r>
              <a:t>• [Goal 1 - primary objective]</a:t>
            </a:r>
          </a:p>
          <a:p>
            <a:pPr>
              <a:spcAft>
                <a:spcPts val="200"/>
              </a:spcAft>
              <a:defRPr sz="750">
                <a:latin typeface="Calibri"/>
              </a:defRPr>
            </a:pPr>
            <a:r>
              <a:t>• [Goal 2 - quality or cadence target]</a:t>
            </a:r>
          </a:p>
          <a:p>
            <a:pPr>
              <a:spcAft>
                <a:spcPts val="200"/>
              </a:spcAft>
              <a:defRPr sz="750">
                <a:latin typeface="Calibri"/>
              </a:defRPr>
            </a:pPr>
            <a:r>
              <a:t>• [Goal 3 - delivery commitment]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813815"/>
            <a:ext cx="2103120" cy="18288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Dependencies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033271"/>
            <a:ext cx="658368" cy="155448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Calibri"/>
              </a:defRPr>
            </a:pPr>
            <a:r>
              <a:t>[Dept A]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59368" y="1042415"/>
            <a:ext cx="502920" cy="1371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550" b="1">
                <a:solidFill>
                  <a:srgbClr val="FFFFFF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1033271"/>
            <a:ext cx="914400" cy="155448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[Dependency description]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234439"/>
            <a:ext cx="658368" cy="155448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Calibri"/>
              </a:defRPr>
            </a:pPr>
            <a:r>
              <a:t>[Dept B]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59368" y="1243584"/>
            <a:ext cx="502920" cy="1371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550" b="1">
                <a:solidFill>
                  <a:srgbClr val="FFFFFF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1234439"/>
            <a:ext cx="914400" cy="155448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[Dependency description]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1435607"/>
            <a:ext cx="658368" cy="155448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Calibri"/>
              </a:defRPr>
            </a:pPr>
            <a:r>
              <a:t>[Dept C]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59368" y="1444751"/>
            <a:ext cx="502920" cy="1371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550" b="1">
                <a:solidFill>
                  <a:srgbClr val="FFFFFF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8008" y="1435607"/>
            <a:ext cx="914400" cy="155448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[Dependency description]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813815"/>
            <a:ext cx="1828800" cy="18288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Risks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1014983"/>
            <a:ext cx="1828800" cy="548640"/>
          </a:xfrm>
          <a:prstGeom prst="rect">
            <a:avLst/>
          </a:prstGeom>
          <a:noFill/>
        </p:spPr>
        <p:txBody>
          <a:bodyPr wrap="square" tIns="0" lIns="38100">
            <a:spAutoFit/>
          </a:bodyPr>
          <a:lstStyle/>
          <a:p>
            <a:pPr>
              <a:spcAft>
                <a:spcPts val="200"/>
              </a:spcAft>
              <a:defRPr sz="700">
                <a:latin typeface="Calibri"/>
              </a:defRPr>
            </a:pPr>
            <a:r>
              <a:t>• [Risk 1 - data, resource, or timeline risk]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1280160"/>
            <a:ext cx="182880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Mitigations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1463039"/>
            <a:ext cx="1828800" cy="365760"/>
          </a:xfrm>
          <a:prstGeom prst="rect">
            <a:avLst/>
          </a:prstGeom>
          <a:noFill/>
        </p:spPr>
        <p:txBody>
          <a:bodyPr wrap="square" tIns="0" lIns="38100">
            <a:spAutoFit/>
          </a:bodyPr>
          <a:lstStyle/>
          <a:p>
            <a:pPr>
              <a:spcAft>
                <a:spcPts val="200"/>
              </a:spcAft>
              <a:defRPr sz="700">
                <a:latin typeface="Calibri"/>
              </a:defRPr>
            </a:pPr>
            <a:r>
              <a:t>• [Mitigation 1 - action to address risk]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1728215"/>
            <a:ext cx="182880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1911095"/>
            <a:ext cx="1828800" cy="365760"/>
          </a:xfrm>
          <a:prstGeom prst="rect">
            <a:avLst/>
          </a:prstGeom>
          <a:noFill/>
        </p:spPr>
        <p:txBody>
          <a:bodyPr wrap="square" lIns="38100">
            <a:spAutoFit/>
          </a:bodyPr>
          <a:lstStyle/>
          <a:p>
            <a:pPr>
              <a:spcAft>
                <a:spcPts val="200"/>
              </a:spcAft>
              <a:defRPr sz="700" u="sng">
                <a:solidFill>
                  <a:srgbClr val="1A73E8"/>
                </a:solidFill>
                <a:latin typeface="Calibri"/>
              </a:defRPr>
            </a:pPr>
            <a:r>
              <a:t>• [Document title or Confluence link]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2176272"/>
            <a:ext cx="1981199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2359152"/>
            <a:ext cx="4572" cy="640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1720" y="2176272"/>
            <a:ext cx="1981199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1720" y="2359152"/>
            <a:ext cx="4572" cy="640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22920" y="2176272"/>
            <a:ext cx="1981199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2920" y="2359152"/>
            <a:ext cx="4572" cy="640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33672" y="2560320"/>
            <a:ext cx="5797296" cy="914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73244" y="2555748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21708" y="2651760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0616" y="2761488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[Workstream 1]</a:t>
            </a:r>
          </a:p>
        </p:txBody>
      </p:sp>
      <p:sp>
        <p:nvSpPr>
          <p:cNvPr id="49" name="Oval 48"/>
          <p:cNvSpPr/>
          <p:nvPr/>
        </p:nvSpPr>
        <p:spPr>
          <a:xfrm>
            <a:off x="5226893" y="2555748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275356" y="2423160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74265" y="2267712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[Workstream 2]</a:t>
            </a:r>
          </a:p>
        </p:txBody>
      </p:sp>
      <p:sp>
        <p:nvSpPr>
          <p:cNvPr id="52" name="Oval 51"/>
          <p:cNvSpPr/>
          <p:nvPr/>
        </p:nvSpPr>
        <p:spPr>
          <a:xfrm>
            <a:off x="6212433" y="2555748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0896" y="2651760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59805" y="2761488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[Workstream 3]</a:t>
            </a:r>
          </a:p>
        </p:txBody>
      </p:sp>
      <p:sp>
        <p:nvSpPr>
          <p:cNvPr id="55" name="Oval 54"/>
          <p:cNvSpPr/>
          <p:nvPr/>
        </p:nvSpPr>
        <p:spPr>
          <a:xfrm>
            <a:off x="6966082" y="2555748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14545" y="2423160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3454" y="2267712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[Workstream 4]</a:t>
            </a:r>
          </a:p>
        </p:txBody>
      </p:sp>
      <p:sp>
        <p:nvSpPr>
          <p:cNvPr id="58" name="Oval 57"/>
          <p:cNvSpPr/>
          <p:nvPr/>
        </p:nvSpPr>
        <p:spPr>
          <a:xfrm>
            <a:off x="7371892" y="2555748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20356" y="2651760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19264" y="2761488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[Workstream 5]</a:t>
            </a:r>
          </a:p>
        </p:txBody>
      </p:sp>
      <p:sp>
        <p:nvSpPr>
          <p:cNvPr id="61" name="Oval 60"/>
          <p:cNvSpPr/>
          <p:nvPr/>
        </p:nvSpPr>
        <p:spPr>
          <a:xfrm>
            <a:off x="8125541" y="2555748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74004" y="2423160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72913" y="2267712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[Workstream 6]</a:t>
            </a:r>
          </a:p>
        </p:txBody>
      </p:sp>
      <p:sp>
        <p:nvSpPr>
          <p:cNvPr id="64" name="Oval 63"/>
          <p:cNvSpPr/>
          <p:nvPr/>
        </p:nvSpPr>
        <p:spPr>
          <a:xfrm>
            <a:off x="8705270" y="2555748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53734" y="2651760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52642" y="2761488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[Workstream 7]</a:t>
            </a:r>
          </a:p>
        </p:txBody>
      </p:sp>
      <p:sp>
        <p:nvSpPr>
          <p:cNvPr id="67" name="Oval 66"/>
          <p:cNvSpPr/>
          <p:nvPr/>
        </p:nvSpPr>
        <p:spPr>
          <a:xfrm>
            <a:off x="9400946" y="2555748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449409" y="2423160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48318" y="2267712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[Workstream 8]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98280" y="2944368"/>
            <a:ext cx="1097280" cy="13716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50" b="1">
                <a:solidFill>
                  <a:srgbClr val="888888"/>
                </a:solidFill>
                <a:latin typeface="Calibri"/>
              </a:defRPr>
            </a:pPr>
            <a:r>
              <a:t>Project Complete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3383280"/>
            <a:ext cx="12191695" cy="1097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28600" y="3566160"/>
            <a:ext cx="3794760" cy="254203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0040" y="3621024"/>
            <a:ext cx="3566160" cy="22860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1200" b="1" u="sng">
                <a:solidFill>
                  <a:srgbClr val="000000"/>
                </a:solidFill>
                <a:latin typeface="Calibri"/>
              </a:defRPr>
            </a:pPr>
            <a:r>
              <a:t>[Initiative 2 Title]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" y="3867911"/>
            <a:ext cx="3566160" cy="32004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[Brief description of this initiative - what it delivers and its scope]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040" y="4206240"/>
            <a:ext cx="32004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Calibri"/>
              </a:defRPr>
            </a:pPr>
            <a:r>
              <a:t>LEAD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58368" y="4215383"/>
            <a:ext cx="822960" cy="155448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650" b="1">
                <a:solidFill>
                  <a:srgbClr val="000000"/>
                </a:solidFill>
                <a:latin typeface="Calibri"/>
              </a:defRPr>
            </a:pPr>
            <a:r>
              <a:t>[Lead Name]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72768" y="4206240"/>
            <a:ext cx="347472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938528" y="4215383"/>
            <a:ext cx="1371600" cy="155448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650" b="1">
                <a:solidFill>
                  <a:srgbClr val="000000"/>
                </a:solidFill>
                <a:latin typeface="Calibri"/>
              </a:defRPr>
            </a:pPr>
            <a:r>
              <a:t>[Dept 1, Dept 2, Dept 3]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434840"/>
            <a:ext cx="3566160" cy="731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4462272"/>
            <a:ext cx="182880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Calibri"/>
              </a:defRPr>
            </a:pPr>
            <a:r>
              <a:t>Key Updates: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040" y="4645152"/>
            <a:ext cx="3566160" cy="1417320"/>
          </a:xfrm>
          <a:prstGeom prst="rect">
            <a:avLst/>
          </a:prstGeom>
          <a:noFill/>
        </p:spPr>
        <p:txBody>
          <a:bodyPr wrap="square" tIns="0" lIns="38100">
            <a:spAutoFit/>
          </a:bodyPr>
          <a:lstStyle/>
          <a:p>
            <a:pPr>
              <a:spcAft>
                <a:spcPts val="100"/>
              </a:spcAft>
              <a:defRPr sz="700">
                <a:latin typeface="Calibri"/>
              </a:defRPr>
            </a:pPr>
            <a:r>
              <a:t>✓  [Completed phase w/c DD/MM/YY]</a:t>
            </a:r>
          </a:p>
          <a:p>
            <a:pPr>
              <a:spcAft>
                <a:spcPts val="100"/>
              </a:spcAft>
              <a:defRPr sz="700">
                <a:latin typeface="Calibri"/>
              </a:defRPr>
            </a:pPr>
            <a:r>
              <a:t>•  [Phase 2 in progress]</a:t>
            </a:r>
          </a:p>
          <a:p>
            <a:pPr>
              <a:spcAft>
                <a:spcPts val="100"/>
              </a:spcAft>
              <a:defRPr sz="700">
                <a:latin typeface="Calibri"/>
              </a:defRPr>
            </a:pPr>
            <a:r>
              <a:t>✓  [Infrastructure setup w/c DD/MM/YY]</a:t>
            </a:r>
          </a:p>
          <a:p>
            <a:pPr>
              <a:spcAft>
                <a:spcPts val="100"/>
              </a:spcAft>
              <a:defRPr sz="700">
                <a:latin typeface="Calibri"/>
              </a:defRPr>
            </a:pPr>
            <a:r>
              <a:t>•  [Evaluation in progress w/c DD/MM/YY]</a:t>
            </a:r>
          </a:p>
          <a:p>
            <a:pPr>
              <a:spcAft>
                <a:spcPts val="100"/>
              </a:spcAft>
              <a:defRPr sz="700">
                <a:latin typeface="Calibri"/>
              </a:defRPr>
            </a:pPr>
            <a:r>
              <a:t>•  [Integration ongoing]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60520" y="3621024"/>
            <a:ext cx="59436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18888" y="3621024"/>
            <a:ext cx="658368" cy="1828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60520" y="3858768"/>
            <a:ext cx="59436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Calibri"/>
              </a:defRPr>
            </a:pPr>
            <a:r>
              <a:t>% DONE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18888" y="3867911"/>
            <a:ext cx="1097280" cy="15544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818888" y="3867911"/>
            <a:ext cx="713232" cy="1554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60520" y="4096511"/>
            <a:ext cx="59436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Calibri"/>
              </a:defRPr>
            </a:pPr>
            <a:r>
              <a:t>ETA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18888" y="4096511"/>
            <a:ext cx="7772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700">
                <a:latin typeface="Calibri"/>
              </a:defRPr>
            </a:pPr>
            <a:r>
              <a:t>[DD/MM/YY]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80760" y="3621024"/>
            <a:ext cx="1828800" cy="18288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Goals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80760" y="3822191"/>
            <a:ext cx="1828800" cy="731520"/>
          </a:xfrm>
          <a:prstGeom prst="rect">
            <a:avLst/>
          </a:prstGeom>
          <a:noFill/>
        </p:spPr>
        <p:txBody>
          <a:bodyPr wrap="square" tIns="0" lIns="38100">
            <a:spAutoFit/>
          </a:bodyPr>
          <a:lstStyle/>
          <a:p>
            <a:pPr>
              <a:spcAft>
                <a:spcPts val="200"/>
              </a:spcAft>
              <a:defRPr sz="750">
                <a:latin typeface="Calibri"/>
              </a:defRPr>
            </a:pPr>
            <a:r>
              <a:t>• [Goal 1 - develop standardised deliverable]</a:t>
            </a:r>
          </a:p>
          <a:p>
            <a:pPr>
              <a:spcAft>
                <a:spcPts val="200"/>
              </a:spcAft>
              <a:defRPr sz="750">
                <a:latin typeface="Calibri"/>
              </a:defRPr>
            </a:pPr>
            <a:r>
              <a:t>• [Goal 2 - replace existing processes]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01000" y="3621024"/>
            <a:ext cx="2103120" cy="18288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Dependencies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01000" y="3840480"/>
            <a:ext cx="658368" cy="155448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Calibri"/>
              </a:defRPr>
            </a:pPr>
            <a:r>
              <a:t>[Body A]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659368" y="3849624"/>
            <a:ext cx="502920" cy="13716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550" b="1">
                <a:solidFill>
                  <a:srgbClr val="FFFFFF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08008" y="3840480"/>
            <a:ext cx="914400" cy="155448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[Dependency description]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01000" y="4041648"/>
            <a:ext cx="658368" cy="155448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Calibri"/>
              </a:defRPr>
            </a:pPr>
            <a:r>
              <a:t>[Source]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659368" y="4050791"/>
            <a:ext cx="502920" cy="13716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25400" rIns="25400"/>
          <a:lstStyle/>
          <a:p>
            <a:pPr algn="ctr">
              <a:defRPr sz="550" b="1">
                <a:solidFill>
                  <a:srgbClr val="FFFFFF"/>
                </a:solidFill>
                <a:latin typeface="Calibri"/>
              </a:defRPr>
            </a:pPr>
            <a:r>
              <a:t>AMBER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208008" y="4041648"/>
            <a:ext cx="914400" cy="155448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[Dependency description]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195560" y="3621024"/>
            <a:ext cx="1828800" cy="18288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Risks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95560" y="3822191"/>
            <a:ext cx="1828800" cy="548640"/>
          </a:xfrm>
          <a:prstGeom prst="rect">
            <a:avLst/>
          </a:prstGeom>
          <a:noFill/>
        </p:spPr>
        <p:txBody>
          <a:bodyPr wrap="square" tIns="0" lIns="38100">
            <a:spAutoFit/>
          </a:bodyPr>
          <a:lstStyle/>
          <a:p>
            <a:pPr>
              <a:spcAft>
                <a:spcPts val="200"/>
              </a:spcAft>
              <a:defRPr sz="700">
                <a:latin typeface="Calibri"/>
              </a:defRPr>
            </a:pPr>
            <a:r>
              <a:t>• [Risk 1 - alignment or measurement risk]</a:t>
            </a:r>
          </a:p>
          <a:p>
            <a:pPr>
              <a:spcAft>
                <a:spcPts val="200"/>
              </a:spcAft>
              <a:defRPr sz="700">
                <a:latin typeface="Calibri"/>
              </a:defRPr>
            </a:pPr>
            <a:r>
              <a:t>• [Risk 2 - data quality or availability risk]</a:t>
            </a:r>
          </a:p>
          <a:p>
            <a:pPr>
              <a:spcAft>
                <a:spcPts val="200"/>
              </a:spcAft>
              <a:defRPr sz="700">
                <a:latin typeface="Calibri"/>
              </a:defRPr>
            </a:pPr>
            <a:r>
              <a:t>• [Risk 3 - external dependency risk]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95560" y="4398264"/>
            <a:ext cx="1828800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95560" y="4581144"/>
            <a:ext cx="1828800" cy="365760"/>
          </a:xfrm>
          <a:prstGeom prst="rect">
            <a:avLst/>
          </a:prstGeom>
          <a:noFill/>
        </p:spPr>
        <p:txBody>
          <a:bodyPr wrap="square" lIns="38100">
            <a:spAutoFit/>
          </a:bodyPr>
          <a:lstStyle/>
          <a:p>
            <a:pPr>
              <a:spcAft>
                <a:spcPts val="200"/>
              </a:spcAft>
              <a:defRPr sz="700" u="sng">
                <a:solidFill>
                  <a:srgbClr val="1A73E8"/>
                </a:solidFill>
                <a:latin typeface="Calibri"/>
              </a:defRPr>
            </a:pPr>
            <a:r>
              <a:t>• [Document title]</a:t>
            </a:r>
          </a:p>
          <a:p>
            <a:pPr>
              <a:spcAft>
                <a:spcPts val="200"/>
              </a:spcAft>
              <a:defRPr sz="700" u="sng">
                <a:solidFill>
                  <a:srgbClr val="1A73E8"/>
                </a:solidFill>
                <a:latin typeface="Calibri"/>
              </a:defRPr>
            </a:pPr>
            <a:r>
              <a:t>• [Reference link]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160520" y="4983480"/>
            <a:ext cx="1981199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60520" y="5166360"/>
            <a:ext cx="4572" cy="640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41720" y="4983480"/>
            <a:ext cx="1981199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41720" y="5166360"/>
            <a:ext cx="4572" cy="640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122920" y="4983480"/>
            <a:ext cx="1981199" cy="164592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22920" y="5166360"/>
            <a:ext cx="4572" cy="6400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233672" y="5367528"/>
            <a:ext cx="5797296" cy="914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763109" y="5362956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811572" y="5458968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310481" y="5568696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[Phase 1]</a:t>
            </a:r>
          </a:p>
        </p:txBody>
      </p:sp>
      <p:sp>
        <p:nvSpPr>
          <p:cNvPr id="112" name="Oval 111"/>
          <p:cNvSpPr/>
          <p:nvPr/>
        </p:nvSpPr>
        <p:spPr>
          <a:xfrm>
            <a:off x="5806622" y="5362956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855086" y="5230368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353994" y="5074920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[Phase 2]</a:t>
            </a:r>
          </a:p>
        </p:txBody>
      </p:sp>
      <p:sp>
        <p:nvSpPr>
          <p:cNvPr id="115" name="Oval 114"/>
          <p:cNvSpPr/>
          <p:nvPr/>
        </p:nvSpPr>
        <p:spPr>
          <a:xfrm>
            <a:off x="7082028" y="5362956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130491" y="5458968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629400" y="5568696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[Phase 3]</a:t>
            </a:r>
          </a:p>
        </p:txBody>
      </p:sp>
      <p:sp>
        <p:nvSpPr>
          <p:cNvPr id="118" name="Oval 117"/>
          <p:cNvSpPr/>
          <p:nvPr/>
        </p:nvSpPr>
        <p:spPr>
          <a:xfrm>
            <a:off x="8241487" y="5362956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289950" y="5230368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88859" y="5074920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[Phase 4]</a:t>
            </a:r>
          </a:p>
        </p:txBody>
      </p:sp>
      <p:sp>
        <p:nvSpPr>
          <p:cNvPr id="121" name="Oval 120"/>
          <p:cNvSpPr/>
          <p:nvPr/>
        </p:nvSpPr>
        <p:spPr>
          <a:xfrm>
            <a:off x="9285000" y="5362956"/>
            <a:ext cx="100584" cy="100584"/>
          </a:xfrm>
          <a:prstGeom prst="ellipse">
            <a:avLst/>
          </a:prstGeom>
          <a:solidFill>
            <a:srgbClr val="007B8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333463" y="5458968"/>
            <a:ext cx="3657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832372" y="5568696"/>
            <a:ext cx="1005840" cy="146304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00" b="0">
                <a:solidFill>
                  <a:srgbClr val="888888"/>
                </a:solidFill>
                <a:latin typeface="Calibri"/>
              </a:defRPr>
            </a:pPr>
            <a:r>
              <a:t>[Phase 5]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98280" y="5751576"/>
            <a:ext cx="1097280" cy="137160"/>
          </a:xfrm>
          <a:prstGeom prst="rect">
            <a:avLst/>
          </a:prstGeom>
          <a:noFill/>
        </p:spPr>
        <p:txBody>
          <a:bodyPr wrap="square" tIns="12700" bIns="12700" lIns="38100" rIns="25400">
            <a:spAutoFit/>
          </a:bodyPr>
          <a:lstStyle/>
          <a:p>
            <a:pPr algn="ctr">
              <a:defRPr sz="650" b="1">
                <a:solidFill>
                  <a:srgbClr val="888888"/>
                </a:solidFill>
                <a:latin typeface="Calibri"/>
              </a:defRPr>
            </a:pPr>
            <a:r>
              <a:t>Project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